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85" r:id="rId2"/>
    <p:sldId id="274" r:id="rId3"/>
    <p:sldId id="260" r:id="rId4"/>
    <p:sldId id="281" r:id="rId5"/>
    <p:sldId id="284" r:id="rId6"/>
    <p:sldId id="282" r:id="rId7"/>
    <p:sldId id="283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70" d="100"/>
          <a:sy n="70" d="100"/>
        </p:scale>
        <p:origin x="5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E6CAFE-9665-4A7A-8030-E97511AF5A3E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70483-5079-4251-9152-0323E132D3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6961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FB20D0-A499-AB92-41C8-620E5615C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5DA71C6-9117-24D9-3CEE-9032A7CF5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902F8D-F5F3-9DCC-596E-18C93B1290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5740"/>
            <a:ext cx="2743200" cy="365125"/>
          </a:xfrm>
          <a:prstGeom prst="rect">
            <a:avLst/>
          </a:prstGeom>
        </p:spPr>
        <p:txBody>
          <a:bodyPr/>
          <a:lstStyle/>
          <a:p>
            <a:fld id="{E9EA9207-D51B-4F6D-8DC2-358A610D0AF3}" type="datetime1">
              <a:rPr lang="fr-FR" smtClean="0"/>
              <a:t>08/06/2026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E6CEFE-9F08-153F-EF4C-19C5C8421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simon.meunier@centralesupelec.fr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EDE054-ECFE-A4BA-E46E-8497AE97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4D03-EB4D-4E9A-A97C-31738675DB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7405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B05500-F1D1-854B-3BF9-846FE421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941319-0FA1-51BC-280B-18F37BF39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34F498-49A1-82DA-945F-2FC986C670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5740"/>
            <a:ext cx="2743200" cy="365125"/>
          </a:xfrm>
          <a:prstGeom prst="rect">
            <a:avLst/>
          </a:prstGeom>
        </p:spPr>
        <p:txBody>
          <a:bodyPr/>
          <a:lstStyle/>
          <a:p>
            <a:fld id="{9B777646-9F14-4EEE-84A5-9C228648C56E}" type="datetime1">
              <a:rPr lang="fr-FR" smtClean="0"/>
              <a:t>08/06/2026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4144D2-5F37-076F-690A-DEFB1821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simon.meunier@centralesupelec.fr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4F0ECB-7858-1967-3065-1E12073DE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4D03-EB4D-4E9A-A97C-31738675DB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7298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789CD7-D3D4-EADD-3A23-F1ADA5E3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CB2FDC-6799-B144-DA25-7EB4FD85F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15FB3B-8881-E394-1A44-471C8B1CE6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5740"/>
            <a:ext cx="2743200" cy="365125"/>
          </a:xfrm>
          <a:prstGeom prst="rect">
            <a:avLst/>
          </a:prstGeom>
        </p:spPr>
        <p:txBody>
          <a:bodyPr/>
          <a:lstStyle/>
          <a:p>
            <a:fld id="{EBDE769E-865C-43A8-BB8A-CFB38AC983EF}" type="datetime1">
              <a:rPr lang="fr-FR" smtClean="0"/>
              <a:t>08/06/2026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4307E3-9B12-F29A-95DF-25CCA2207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simon.meunier@centralesupelec.fr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E52B7E-7DE5-2045-1985-0F6788292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4D03-EB4D-4E9A-A97C-31738675DB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226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911103-B3ED-EEF7-3CEF-3D56EE573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3A74F0-4CCA-765E-275D-3240CA50E7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EB8A689-ECBD-A9E3-5242-069FD5471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3BCBED-9FA9-3FBB-78D9-386F2AFE0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5740"/>
            <a:ext cx="2743200" cy="365125"/>
          </a:xfrm>
          <a:prstGeom prst="rect">
            <a:avLst/>
          </a:prstGeom>
        </p:spPr>
        <p:txBody>
          <a:bodyPr/>
          <a:lstStyle/>
          <a:p>
            <a:fld id="{A39632D6-C84A-4F79-B32E-8BB030830A29}" type="datetime1">
              <a:rPr lang="fr-FR" smtClean="0"/>
              <a:t>08/06/2026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D4EFCDC-1011-6AF4-35CB-9F2275F6F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simon.meunier@centralesupelec.fr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911D40-BB8D-6CD7-198A-16790274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4D03-EB4D-4E9A-A97C-31738675DB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495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CAA4F1-5DF6-2E71-1579-D778EDBE9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C7C281-92F2-CB89-A367-A75CE8839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520E778-6404-7B2C-0AFF-8F7F822DD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B8AFEF6-B21E-F01F-DC41-9B7607FF5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B69296F-95CE-34EE-9C38-5C8794C60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DAA0BCB-F6CF-0908-745C-41B4524B7A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5740"/>
            <a:ext cx="2743200" cy="365125"/>
          </a:xfrm>
          <a:prstGeom prst="rect">
            <a:avLst/>
          </a:prstGeom>
        </p:spPr>
        <p:txBody>
          <a:bodyPr/>
          <a:lstStyle/>
          <a:p>
            <a:fld id="{1557135D-9F3D-41AA-9BEB-9F897AC7BEA9}" type="datetime1">
              <a:rPr lang="fr-FR" smtClean="0"/>
              <a:t>08/06/2026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43C1A0D-77B7-674E-7628-B8D36036A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simon.meunier@centralesupelec.fr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D350D25-3E00-8A80-C215-D8A183B2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4D03-EB4D-4E9A-A97C-31738675DB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9181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1E5D86-07A1-7059-2D8D-A425C5A57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D33526B-CFD4-40A2-BDDE-CA2DA814A4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5740"/>
            <a:ext cx="2743200" cy="365125"/>
          </a:xfrm>
          <a:prstGeom prst="rect">
            <a:avLst/>
          </a:prstGeom>
        </p:spPr>
        <p:txBody>
          <a:bodyPr/>
          <a:lstStyle/>
          <a:p>
            <a:fld id="{A658454D-8E5E-4DDA-BAFB-F1A953A9349F}" type="datetime1">
              <a:rPr lang="fr-FR" smtClean="0"/>
              <a:t>08/06/2026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AD59414-327B-C76A-367F-173E70EF5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simon.meunier@centralesupelec.fr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43BF5F2-EB48-91E8-0A39-C5CD32EC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4D03-EB4D-4E9A-A97C-31738675DB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684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F6D5600-2356-EDF6-83DF-795F735D44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5740"/>
            <a:ext cx="2743200" cy="365125"/>
          </a:xfrm>
          <a:prstGeom prst="rect">
            <a:avLst/>
          </a:prstGeom>
        </p:spPr>
        <p:txBody>
          <a:bodyPr/>
          <a:lstStyle/>
          <a:p>
            <a:fld id="{CCB1F660-38C4-4529-AF73-DC70EDB3D4BF}" type="datetime1">
              <a:rPr lang="fr-FR" smtClean="0"/>
              <a:t>08/06/2026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B35FDA1-EE5D-2235-EA60-6884656F9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simon.meunier@centralesupelec.fr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FF87E5-C399-E3C5-2ECA-90AB403C2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4D03-EB4D-4E9A-A97C-31738675DB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1694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C64D0A-5D72-083A-DD7F-145C001D9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8C4588-B577-087C-713E-915D37FC9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C647CE-32A5-6E04-FBD1-87DE30DE1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B3BBBB1-34BC-FB46-0ED9-E0F85EA1BC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5740"/>
            <a:ext cx="2743200" cy="365125"/>
          </a:xfrm>
          <a:prstGeom prst="rect">
            <a:avLst/>
          </a:prstGeom>
        </p:spPr>
        <p:txBody>
          <a:bodyPr/>
          <a:lstStyle/>
          <a:p>
            <a:fld id="{30898EF0-1685-4518-87F2-E66EF036671A}" type="datetime1">
              <a:rPr lang="fr-FR" smtClean="0"/>
              <a:t>08/06/2026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62CB4E-2569-104C-EAA3-31861DE89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simon.meunier@centralesupelec.fr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A62350-585F-0002-E68C-2D2BE7213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4D03-EB4D-4E9A-A97C-31738675DB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39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C6CC3D-6CD8-F372-8BCB-F286A010C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F06083F-E226-8B2A-A250-D18D31845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413BDEC-5395-E7B5-A502-398DB7696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3A4474-95DA-0C01-4756-274C740CAE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5740"/>
            <a:ext cx="2743200" cy="365125"/>
          </a:xfrm>
          <a:prstGeom prst="rect">
            <a:avLst/>
          </a:prstGeom>
        </p:spPr>
        <p:txBody>
          <a:bodyPr/>
          <a:lstStyle/>
          <a:p>
            <a:fld id="{BF39BB8F-8085-41A5-8829-F2090EAC93AE}" type="datetime1">
              <a:rPr lang="fr-FR" smtClean="0"/>
              <a:t>08/06/2026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B6136A-F3E5-9E6C-212E-C9A3B9D89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simon.meunier@centralesupelec.fr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2E9112-87CF-DDFD-F78C-7CAB5B53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4D03-EB4D-4E9A-A97C-31738675DB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43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1A9AC4-D023-B3B1-8323-73E06F5CF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088CBD8-3656-987E-1740-74B320E1A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F137AF-DCF6-9583-138D-9A039D212D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5740"/>
            <a:ext cx="2743200" cy="365125"/>
          </a:xfrm>
          <a:prstGeom prst="rect">
            <a:avLst/>
          </a:prstGeom>
        </p:spPr>
        <p:txBody>
          <a:bodyPr/>
          <a:lstStyle/>
          <a:p>
            <a:fld id="{82A5187C-2FB4-44EF-99F5-3FD5F56E25A1}" type="datetime1">
              <a:rPr lang="fr-FR" smtClean="0"/>
              <a:t>08/06/2026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560172-9097-3F96-90DA-1457C89B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simon.meunier@centralesupelec.fr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71B559-1BAD-57B1-94E7-32411E2D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4D03-EB4D-4E9A-A97C-31738675DB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1857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254290A-A767-F037-DFC6-F248A20516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62422E6-3EFB-5F49-03E1-EA729D517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0AA37E-2C68-0595-E5C3-93CB97EF09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5740"/>
            <a:ext cx="2743200" cy="365125"/>
          </a:xfrm>
          <a:prstGeom prst="rect">
            <a:avLst/>
          </a:prstGeom>
        </p:spPr>
        <p:txBody>
          <a:bodyPr/>
          <a:lstStyle/>
          <a:p>
            <a:fld id="{920149EF-CD6E-4853-9EA8-61629522968E}" type="datetime1">
              <a:rPr lang="fr-FR" smtClean="0"/>
              <a:t>08/06/2026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8F25FB-4CF1-6BFE-4BA8-819F58961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simon.meunier@centralesupelec.fr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DD1672-DE3D-F84B-04BA-F58710DFF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4D03-EB4D-4E9A-A97C-31738675DB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5743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FC3C060-E9CC-60EB-2BCD-337008A2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612BBB-8DDB-3DDF-CD72-335F92E7D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FD81C5-A835-2CF4-8A62-F779DDD50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574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 dirty="0"/>
              <a:t>simon.meunier@centralesupelec.fr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6B70C0-3417-306D-4093-CDE2D0E4A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97190" y="64857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04D03-EB4D-4E9A-A97C-31738675DBD3}" type="slidenum">
              <a:rPr lang="fr-FR" smtClean="0"/>
              <a:t>‹N°›</a:t>
            </a:fld>
            <a:endParaRPr lang="fr-FR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D3F6A7E1-54F4-ACA1-7CDB-E3EBC13E1050}"/>
              </a:ext>
            </a:extLst>
          </p:cNvPr>
          <p:cNvCxnSpPr/>
          <p:nvPr userDrawn="1"/>
        </p:nvCxnSpPr>
        <p:spPr>
          <a:xfrm flipH="1">
            <a:off x="0" y="6485740"/>
            <a:ext cx="12192000" cy="0"/>
          </a:xfrm>
          <a:prstGeom prst="line">
            <a:avLst/>
          </a:prstGeom>
          <a:ln w="9525">
            <a:solidFill>
              <a:srgbClr val="767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96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urworldindata.org/clean-water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40AEA-B0F9-AE00-CCA1-D155D0475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30CEC90-B33C-7FC1-C576-B5A2F4AF5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simon.meunier@centralesupelec.fr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7E5CA4-74A6-21A0-C3D9-158512E64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4D03-EB4D-4E9A-A97C-31738675DBD3}" type="slidenum">
              <a:rPr lang="fr-FR" smtClean="0"/>
              <a:t>1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A61B59D-A9F1-E66C-65C4-9BA57C70DCCC}"/>
              </a:ext>
            </a:extLst>
          </p:cNvPr>
          <p:cNvSpPr txBox="1"/>
          <p:nvPr/>
        </p:nvSpPr>
        <p:spPr>
          <a:xfrm>
            <a:off x="176172" y="72283"/>
            <a:ext cx="9959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70C0"/>
                </a:solidFill>
              </a:rPr>
              <a:t>Accès aux services essentiels dans les pays en développement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A76C083-47D8-A083-1F2A-0AC0F596BC77}"/>
              </a:ext>
            </a:extLst>
          </p:cNvPr>
          <p:cNvSpPr txBox="1"/>
          <p:nvPr/>
        </p:nvSpPr>
        <p:spPr>
          <a:xfrm>
            <a:off x="176172" y="850449"/>
            <a:ext cx="11445851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1700" dirty="0"/>
              <a:t>Simon Meunier &amp; Marie-Joelle Seka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fr-FR" sz="17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1700" dirty="0"/>
              <a:t>Majoritairement un </a:t>
            </a:r>
            <a:r>
              <a:rPr lang="fr-FR" sz="1700" b="1" dirty="0"/>
              <a:t>projet</a:t>
            </a:r>
            <a:r>
              <a:rPr lang="fr-FR" sz="1700" dirty="0"/>
              <a:t> de groupe qui va aider </a:t>
            </a:r>
            <a:r>
              <a:rPr lang="fr-FR" sz="1700" b="1" dirty="0"/>
              <a:t>concrètement</a:t>
            </a:r>
            <a:r>
              <a:rPr lang="fr-FR" sz="1700" dirty="0"/>
              <a:t> à (i) appréhender les problématiques et (ii) à concevoir des solutions soutenables dans ce secteur.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1700" i="1" dirty="0">
                <a:solidFill>
                  <a:srgbClr val="0070C0"/>
                </a:solidFill>
              </a:rPr>
              <a:t>Conception interdisciplinaire d’un système d’adduction pour l’accès à l’eau potable en zone rurale d’Afrique sub-Saharienne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1700" dirty="0"/>
              <a:t>85% de la note dont</a:t>
            </a:r>
          </a:p>
          <a:p>
            <a:pPr marL="1200150" lvl="2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1700" dirty="0"/>
              <a:t>50% pour les points d’avancement intermédiaires : mardi matin fin de séance, jeudi matin fin de séance</a:t>
            </a:r>
          </a:p>
          <a:p>
            <a:pPr marL="1200150" lvl="2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1700" dirty="0"/>
              <a:t>50% pour rendu final</a:t>
            </a:r>
          </a:p>
          <a:p>
            <a:pPr marL="1200150" lvl="2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fr-FR" sz="17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1700" dirty="0"/>
              <a:t>Interventions </a:t>
            </a:r>
            <a:r>
              <a:rPr lang="fr-FR" sz="1700" b="1" dirty="0"/>
              <a:t>d’acteurs du secteur </a:t>
            </a:r>
            <a:r>
              <a:rPr lang="fr-FR" sz="1700" dirty="0"/>
              <a:t>(noms et créneaux au tableau)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1700" dirty="0"/>
              <a:t>Témoignage sur leur parcours, leur travail, les difficultés qu’ils rencontrent puis Q&amp;A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1700" dirty="0"/>
              <a:t>15% de la note pour la présence.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fr-FR" sz="17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1700" dirty="0"/>
              <a:t>La présence sur site est obligatoire à tous les créneaux y compris de projet de toute façon.</a:t>
            </a:r>
          </a:p>
        </p:txBody>
      </p:sp>
    </p:spTree>
    <p:extLst>
      <p:ext uri="{BB962C8B-B14F-4D97-AF65-F5344CB8AC3E}">
        <p14:creationId xmlns:p14="http://schemas.microsoft.com/office/powerpoint/2010/main" val="2722837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F5D55-9BD2-5C6A-9DC2-64A4770A8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58B8F3C-7572-01F8-C41F-3CD8C92FCF7E}"/>
              </a:ext>
            </a:extLst>
          </p:cNvPr>
          <p:cNvSpPr/>
          <p:nvPr/>
        </p:nvSpPr>
        <p:spPr>
          <a:xfrm>
            <a:off x="0" y="5943600"/>
            <a:ext cx="12192000" cy="5905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124" name="Picture 4" descr="African dryland trees store less carbon than believed earlier, finds study">
            <a:extLst>
              <a:ext uri="{FF2B5EF4-FFF2-40B4-BE49-F238E27FC236}">
                <a16:creationId xmlns:a16="http://schemas.microsoft.com/office/drawing/2014/main" id="{ECDF489E-7330-D641-2D22-9C4A83ECCE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4" b="5011"/>
          <a:stretch/>
        </p:blipFill>
        <p:spPr bwMode="auto">
          <a:xfrm>
            <a:off x="0" y="-1"/>
            <a:ext cx="12192000" cy="6868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36EA434-41ED-624A-DDDE-3F6ECE413A33}"/>
              </a:ext>
            </a:extLst>
          </p:cNvPr>
          <p:cNvSpPr txBox="1"/>
          <p:nvPr/>
        </p:nvSpPr>
        <p:spPr>
          <a:xfrm>
            <a:off x="1895475" y="733425"/>
            <a:ext cx="84010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Conception interdisciplinaire d’un système d’adduction pour l’accès à l’eau potable en zone rurale d’Afrique sub-Saharienne</a:t>
            </a:r>
          </a:p>
          <a:p>
            <a:pPr algn="ctr"/>
            <a:endParaRPr lang="fr-FR" sz="2400" b="1" dirty="0"/>
          </a:p>
          <a:p>
            <a:pPr algn="ctr"/>
            <a:r>
              <a:rPr lang="fr-FR" sz="2000" b="1" dirty="0"/>
              <a:t>Simon Meunier, Marie-Joëlle </a:t>
            </a:r>
            <a:r>
              <a:rPr lang="fr-FR" sz="2000" b="1" dirty="0" err="1"/>
              <a:t>Seka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504110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54A53A-74BD-BEBB-1109-317869352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simon.meunier@centralesupelec.fr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34D499-C31E-8ECC-7AA0-759D8711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4D03-EB4D-4E9A-A97C-31738675DBD3}" type="slidenum">
              <a:rPr lang="fr-FR" smtClean="0"/>
              <a:t>3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46FD021-23DE-5823-ECFE-C42EF811DC57}"/>
              </a:ext>
            </a:extLst>
          </p:cNvPr>
          <p:cNvSpPr txBox="1"/>
          <p:nvPr/>
        </p:nvSpPr>
        <p:spPr>
          <a:xfrm>
            <a:off x="176172" y="72283"/>
            <a:ext cx="9959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70C0"/>
                </a:solidFill>
              </a:rPr>
              <a:t>Contexte du projet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51AF352-4ADB-A4CB-08C6-9D6A2E47BB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826" t="53700" r="30166" b="13294"/>
          <a:stretch/>
        </p:blipFill>
        <p:spPr>
          <a:xfrm>
            <a:off x="4038600" y="1005490"/>
            <a:ext cx="3318732" cy="1999254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9" name="Image 8" descr="C:\Users\meunier_sim\Desktop\methodo_phd\Figures\open_well.jpg">
            <a:extLst>
              <a:ext uri="{FF2B5EF4-FFF2-40B4-BE49-F238E27FC236}">
                <a16:creationId xmlns:a16="http://schemas.microsoft.com/office/drawing/2014/main" id="{3D23B4C7-AA8A-3EBC-9C35-281D9F1A6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98" y="1012484"/>
            <a:ext cx="3432373" cy="1992260"/>
          </a:xfrm>
          <a:prstGeom prst="rect">
            <a:avLst/>
          </a:prstGeom>
          <a:ln w="19050" cap="sq">
            <a:solidFill>
              <a:schemeClr val="bg1"/>
            </a:solidFill>
            <a:prstDash val="solid"/>
            <a:miter lim="800000"/>
          </a:ln>
          <a:effectLst/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2C78A4A-9456-A92C-95E4-6245A02B6822}"/>
              </a:ext>
            </a:extLst>
          </p:cNvPr>
          <p:cNvSpPr txBox="1"/>
          <p:nvPr/>
        </p:nvSpPr>
        <p:spPr>
          <a:xfrm>
            <a:off x="187382" y="538243"/>
            <a:ext cx="11306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800" b="1" i="0" u="none" strike="noStrike" baseline="0" dirty="0">
                <a:latin typeface="AdvOT1ef757c0"/>
              </a:rPr>
              <a:t>En Afrique sub-Saharienne, </a:t>
            </a:r>
            <a:r>
              <a:rPr lang="fr-FR" sz="1800" b="1" i="0" u="none" strike="noStrike" baseline="0" dirty="0">
                <a:solidFill>
                  <a:srgbClr val="0070C0"/>
                </a:solidFill>
                <a:latin typeface="AdvOT1ef757c0"/>
              </a:rPr>
              <a:t>&gt; 350 millions </a:t>
            </a:r>
            <a:r>
              <a:rPr lang="fr-FR" sz="1800" b="1" i="0" u="none" strike="noStrike" baseline="0" dirty="0">
                <a:latin typeface="AdvOT1ef757c0"/>
              </a:rPr>
              <a:t>de personnes vivent sans accès aux services de base en eau potable.</a:t>
            </a:r>
            <a:endParaRPr lang="fr-FR" b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216358D-25B2-45F1-70BA-365C5195D547}"/>
              </a:ext>
            </a:extLst>
          </p:cNvPr>
          <p:cNvSpPr txBox="1"/>
          <p:nvPr/>
        </p:nvSpPr>
        <p:spPr>
          <a:xfrm>
            <a:off x="7613504" y="3509764"/>
            <a:ext cx="3659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B050"/>
                </a:solidFill>
              </a:rPr>
              <a:t>Alternative pertinente 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00B050"/>
                </a:solidFill>
              </a:rPr>
              <a:t>Système motorisé de pompage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00B050"/>
                </a:solidFill>
              </a:rPr>
              <a:t>Réservoir en hauteur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00B050"/>
                </a:solidFill>
              </a:rPr>
              <a:t>Système d’adduction d’eau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212084-17C0-A376-D054-AE309574325A}"/>
              </a:ext>
            </a:extLst>
          </p:cNvPr>
          <p:cNvSpPr/>
          <p:nvPr/>
        </p:nvSpPr>
        <p:spPr>
          <a:xfrm>
            <a:off x="0" y="6436214"/>
            <a:ext cx="12192000" cy="4217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0DE57F5-25D2-07B7-DD69-4937A837ED15}"/>
              </a:ext>
            </a:extLst>
          </p:cNvPr>
          <p:cNvSpPr txBox="1"/>
          <p:nvPr/>
        </p:nvSpPr>
        <p:spPr>
          <a:xfrm>
            <a:off x="306474" y="6639626"/>
            <a:ext cx="7901790" cy="221018"/>
          </a:xfrm>
          <a:prstGeom prst="rect">
            <a:avLst/>
          </a:prstGeom>
          <a:noFill/>
        </p:spPr>
        <p:txBody>
          <a:bodyPr wrap="square" lIns="0" tIns="18000" rIns="0" bIns="18000" rtlCol="0">
            <a:spAutoFit/>
          </a:bodyPr>
          <a:lstStyle/>
          <a:p>
            <a:pPr algn="just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WHO/UNICEF, Progress on household drinking water, sanitation and hygiene, 2000-2020: Five years into the SDGs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726EDE4-5517-399A-6C06-87F6AAF674CE}"/>
              </a:ext>
            </a:extLst>
          </p:cNvPr>
          <p:cNvSpPr txBox="1"/>
          <p:nvPr/>
        </p:nvSpPr>
        <p:spPr>
          <a:xfrm>
            <a:off x="7590464" y="980727"/>
            <a:ext cx="35178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Problèmes</a:t>
            </a:r>
            <a:r>
              <a:rPr lang="fr-FR" dirty="0">
                <a:solidFill>
                  <a:srgbClr val="C00000"/>
                </a:solidFill>
              </a:rPr>
              <a:t>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C00000"/>
                </a:solidFill>
              </a:rPr>
              <a:t>Qualité d’eau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C00000"/>
                </a:solidFill>
              </a:rPr>
              <a:t>Temps et difficulté d’extraction</a:t>
            </a:r>
          </a:p>
        </p:txBody>
      </p:sp>
      <p:pic>
        <p:nvPicPr>
          <p:cNvPr id="1028" name="Picture 4" descr="Water well drilling – MSA">
            <a:extLst>
              <a:ext uri="{FF2B5EF4-FFF2-40B4-BE49-F238E27FC236}">
                <a16:creationId xmlns:a16="http://schemas.microsoft.com/office/drawing/2014/main" id="{34D6CA0E-E4AD-319C-A88D-9176A16220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87"/>
          <a:stretch/>
        </p:blipFill>
        <p:spPr bwMode="auto">
          <a:xfrm>
            <a:off x="297330" y="3545203"/>
            <a:ext cx="6324064" cy="3039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84BDC1D-C11C-C660-9835-3F8336C1754D}"/>
              </a:ext>
            </a:extLst>
          </p:cNvPr>
          <p:cNvSpPr/>
          <p:nvPr/>
        </p:nvSpPr>
        <p:spPr>
          <a:xfrm>
            <a:off x="3474720" y="3429000"/>
            <a:ext cx="2916936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C7587F-F352-30AC-C358-A5F7AE36CAE0}"/>
              </a:ext>
            </a:extLst>
          </p:cNvPr>
          <p:cNvSpPr/>
          <p:nvPr/>
        </p:nvSpPr>
        <p:spPr>
          <a:xfrm>
            <a:off x="918958" y="3330518"/>
            <a:ext cx="909842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52CFC6-9A33-BEA4-A457-6E8FBA6F5C88}"/>
              </a:ext>
            </a:extLst>
          </p:cNvPr>
          <p:cNvSpPr/>
          <p:nvPr/>
        </p:nvSpPr>
        <p:spPr>
          <a:xfrm>
            <a:off x="288186" y="3970598"/>
            <a:ext cx="1083414" cy="10311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491214-38EC-9F33-28E1-B8CE184773C4}"/>
              </a:ext>
            </a:extLst>
          </p:cNvPr>
          <p:cNvSpPr/>
          <p:nvPr/>
        </p:nvSpPr>
        <p:spPr>
          <a:xfrm>
            <a:off x="485050" y="4606727"/>
            <a:ext cx="1041998" cy="5316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B859FD9-3D4B-CC82-20B3-F9BFB8D793A0}"/>
              </a:ext>
            </a:extLst>
          </p:cNvPr>
          <p:cNvSpPr txBox="1"/>
          <p:nvPr/>
        </p:nvSpPr>
        <p:spPr>
          <a:xfrm>
            <a:off x="526646" y="4148226"/>
            <a:ext cx="922678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 err="1"/>
              <a:t>Motorised</a:t>
            </a:r>
            <a:r>
              <a:rPr lang="fr-FR" sz="1300" dirty="0"/>
              <a:t> pumping system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EAB69D9-5141-C369-ABE3-D158B09CF372}"/>
              </a:ext>
            </a:extLst>
          </p:cNvPr>
          <p:cNvSpPr txBox="1"/>
          <p:nvPr/>
        </p:nvSpPr>
        <p:spPr>
          <a:xfrm>
            <a:off x="7613504" y="5414538"/>
            <a:ext cx="44021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1" dirty="0"/>
              <a:t>Merci de lire: </a:t>
            </a:r>
            <a:r>
              <a:rPr lang="fr-FR" i="1" dirty="0">
                <a:hlinkClick r:id="rId5"/>
              </a:rPr>
              <a:t>https://ourworldindata.org/clean-water</a:t>
            </a:r>
            <a:r>
              <a:rPr lang="fr-FR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4722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F024C-9A22-95D2-FDD0-4372B7C2E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8283DB-EF3E-435A-5603-ECD9BE9DF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simon.meunier@centralesupelec.fr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3DCDF51-9C2B-B0F3-0717-228488F4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4D03-EB4D-4E9A-A97C-31738675DBD3}" type="slidenum">
              <a:rPr lang="fr-FR" smtClean="0"/>
              <a:t>4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AF0E3AC-6651-1FCB-C63D-7AF59406A642}"/>
              </a:ext>
            </a:extLst>
          </p:cNvPr>
          <p:cNvSpPr txBox="1"/>
          <p:nvPr/>
        </p:nvSpPr>
        <p:spPr>
          <a:xfrm>
            <a:off x="176172" y="72283"/>
            <a:ext cx="9959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70C0"/>
                </a:solidFill>
              </a:rPr>
              <a:t>Situation et objectif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3253282-C248-546D-0876-9EC7CA0EBF4E}"/>
              </a:ext>
            </a:extLst>
          </p:cNvPr>
          <p:cNvSpPr txBox="1"/>
          <p:nvPr/>
        </p:nvSpPr>
        <p:spPr>
          <a:xfrm>
            <a:off x="122832" y="655321"/>
            <a:ext cx="63642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0070C0"/>
                </a:solidFill>
              </a:rPr>
              <a:t>Situation</a:t>
            </a:r>
          </a:p>
          <a:p>
            <a:pPr algn="ctr"/>
            <a:r>
              <a:rPr lang="fr-FR" sz="800" b="1" dirty="0"/>
              <a:t> </a:t>
            </a:r>
            <a:endParaRPr lang="fr-FR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/>
              <a:t>Village </a:t>
            </a:r>
            <a:r>
              <a:rPr lang="fr-FR" sz="1600" dirty="0">
                <a:solidFill>
                  <a:srgbClr val="0070C0"/>
                </a:solidFill>
              </a:rPr>
              <a:t>Guinéen</a:t>
            </a:r>
            <a:r>
              <a:rPr lang="fr-FR" sz="1600" dirty="0"/>
              <a:t> de 1030 habitants où l’</a:t>
            </a:r>
            <a:r>
              <a:rPr lang="fr-FR" sz="1600" dirty="0">
                <a:solidFill>
                  <a:srgbClr val="0070C0"/>
                </a:solidFill>
              </a:rPr>
              <a:t>accès à l’eau</a:t>
            </a:r>
            <a:r>
              <a:rPr lang="fr-FR" sz="1600" dirty="0"/>
              <a:t> est </a:t>
            </a:r>
            <a:r>
              <a:rPr lang="fr-FR" sz="1600" dirty="0">
                <a:solidFill>
                  <a:srgbClr val="0070C0"/>
                </a:solidFill>
              </a:rPr>
              <a:t>défaillant</a:t>
            </a:r>
            <a:r>
              <a:rPr lang="fr-FR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rgbClr val="0070C0"/>
                </a:solidFill>
              </a:rPr>
              <a:t>Château d’eau </a:t>
            </a:r>
            <a:r>
              <a:rPr lang="fr-FR" sz="1600" dirty="0"/>
              <a:t>installé à une position du village.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rgbClr val="0070C0"/>
                </a:solidFill>
              </a:rPr>
              <a:t>Demandes</a:t>
            </a:r>
            <a:r>
              <a:rPr lang="fr-FR" sz="1600" dirty="0"/>
              <a:t> en eau exprimées par les habitants grâce à des </a:t>
            </a:r>
            <a:r>
              <a:rPr lang="fr-FR" sz="1600" dirty="0">
                <a:solidFill>
                  <a:srgbClr val="0070C0"/>
                </a:solidFill>
              </a:rPr>
              <a:t>questionnaires</a:t>
            </a:r>
            <a:r>
              <a:rPr lang="fr-FR" sz="1600" dirty="0"/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D65578-75DB-B8D7-8590-2B24ECAFB870}"/>
              </a:ext>
            </a:extLst>
          </p:cNvPr>
          <p:cNvSpPr/>
          <p:nvPr/>
        </p:nvSpPr>
        <p:spPr>
          <a:xfrm>
            <a:off x="0" y="6436214"/>
            <a:ext cx="12192000" cy="4217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3" name="Image 22" descr="Une image contenant texte, capture d’écran, diagramm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366F5573-1297-0F4A-D6B6-814B833C7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9" y="2148989"/>
            <a:ext cx="6766016" cy="468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026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23A88-0EE9-661B-29B9-0625736B9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FE8A2D-52C8-FB0D-6D97-DB7D3EAA0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simon.meunier@centralesupelec.fr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E6B4F9-88AE-8CFC-602F-271AA20ED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4D03-EB4D-4E9A-A97C-31738675DBD3}" type="slidenum">
              <a:rPr lang="fr-FR" smtClean="0"/>
              <a:t>5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2DF7BA7-9EB2-4860-6F76-4B12AA3A2CAC}"/>
              </a:ext>
            </a:extLst>
          </p:cNvPr>
          <p:cNvSpPr txBox="1"/>
          <p:nvPr/>
        </p:nvSpPr>
        <p:spPr>
          <a:xfrm>
            <a:off x="176172" y="72283"/>
            <a:ext cx="9959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70C0"/>
                </a:solidFill>
              </a:rPr>
              <a:t>Situation et objectif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8DD11D8-5A05-6896-EE88-674203B12BAE}"/>
              </a:ext>
            </a:extLst>
          </p:cNvPr>
          <p:cNvSpPr txBox="1"/>
          <p:nvPr/>
        </p:nvSpPr>
        <p:spPr>
          <a:xfrm>
            <a:off x="122832" y="655321"/>
            <a:ext cx="63642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0070C0"/>
                </a:solidFill>
              </a:rPr>
              <a:t>Situation</a:t>
            </a:r>
          </a:p>
          <a:p>
            <a:pPr algn="ctr"/>
            <a:r>
              <a:rPr lang="fr-FR" sz="800" b="1" dirty="0"/>
              <a:t> </a:t>
            </a:r>
            <a:endParaRPr lang="fr-FR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/>
              <a:t>Village </a:t>
            </a:r>
            <a:r>
              <a:rPr lang="fr-FR" sz="1600" dirty="0">
                <a:solidFill>
                  <a:srgbClr val="0070C0"/>
                </a:solidFill>
              </a:rPr>
              <a:t>Guinéen</a:t>
            </a:r>
            <a:r>
              <a:rPr lang="fr-FR" sz="1600" dirty="0"/>
              <a:t> de 1030 habitants où l’</a:t>
            </a:r>
            <a:r>
              <a:rPr lang="fr-FR" sz="1600" dirty="0">
                <a:solidFill>
                  <a:srgbClr val="0070C0"/>
                </a:solidFill>
              </a:rPr>
              <a:t>accès à l’eau</a:t>
            </a:r>
            <a:r>
              <a:rPr lang="fr-FR" sz="1600" dirty="0"/>
              <a:t> est </a:t>
            </a:r>
            <a:r>
              <a:rPr lang="fr-FR" sz="1600" dirty="0">
                <a:solidFill>
                  <a:srgbClr val="0070C0"/>
                </a:solidFill>
              </a:rPr>
              <a:t>défaillant</a:t>
            </a:r>
            <a:r>
              <a:rPr lang="fr-FR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rgbClr val="0070C0"/>
                </a:solidFill>
              </a:rPr>
              <a:t>Château d’eau </a:t>
            </a:r>
            <a:r>
              <a:rPr lang="fr-FR" sz="1600" dirty="0"/>
              <a:t>installé à une position du village.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rgbClr val="0070C0"/>
                </a:solidFill>
              </a:rPr>
              <a:t>Demandes</a:t>
            </a:r>
            <a:r>
              <a:rPr lang="fr-FR" sz="1600" dirty="0"/>
              <a:t> en eau exprimées par les habitants grâce à des </a:t>
            </a:r>
            <a:r>
              <a:rPr lang="fr-FR" sz="1600" dirty="0">
                <a:solidFill>
                  <a:srgbClr val="0070C0"/>
                </a:solidFill>
              </a:rPr>
              <a:t>questionnaires</a:t>
            </a:r>
            <a:r>
              <a:rPr lang="fr-FR" sz="1600" dirty="0"/>
              <a:t>.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7F2AB99-5EF2-1FBE-3B76-B16151C1C891}"/>
              </a:ext>
            </a:extLst>
          </p:cNvPr>
          <p:cNvSpPr txBox="1"/>
          <p:nvPr/>
        </p:nvSpPr>
        <p:spPr>
          <a:xfrm>
            <a:off x="7281164" y="655321"/>
            <a:ext cx="479892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0070C0"/>
                </a:solidFill>
              </a:rPr>
              <a:t>Objectif</a:t>
            </a:r>
            <a:r>
              <a:rPr lang="fr-FR" sz="1600" dirty="0"/>
              <a:t> </a:t>
            </a:r>
          </a:p>
          <a:p>
            <a:endParaRPr lang="fr-FR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/>
              <a:t>Vous êtes une petite </a:t>
            </a:r>
            <a:r>
              <a:rPr lang="fr-FR" sz="1600" dirty="0">
                <a:solidFill>
                  <a:srgbClr val="0070C0"/>
                </a:solidFill>
              </a:rPr>
              <a:t>entreprise Guinéenne </a:t>
            </a:r>
            <a:r>
              <a:rPr lang="fr-FR" sz="1600" dirty="0"/>
              <a:t>d'adduction d'eau.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/>
              <a:t>Vous devez </a:t>
            </a:r>
            <a:r>
              <a:rPr lang="fr-FR" sz="1600" dirty="0">
                <a:solidFill>
                  <a:srgbClr val="0070C0"/>
                </a:solidFill>
              </a:rPr>
              <a:t>répondre</a:t>
            </a:r>
            <a:r>
              <a:rPr lang="fr-FR" sz="1600" dirty="0"/>
              <a:t> à un </a:t>
            </a:r>
            <a:r>
              <a:rPr lang="fr-FR" sz="1600" dirty="0">
                <a:solidFill>
                  <a:srgbClr val="0070C0"/>
                </a:solidFill>
              </a:rPr>
              <a:t>appel d'offre </a:t>
            </a:r>
            <a:r>
              <a:rPr lang="fr-FR" sz="1600" dirty="0"/>
              <a:t>pour le gouvernement local d'aménagement du territoire.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/>
              <a:t>Pour cela, vous devez </a:t>
            </a:r>
            <a:r>
              <a:rPr lang="fr-FR" sz="1600" dirty="0">
                <a:solidFill>
                  <a:srgbClr val="0070C0"/>
                </a:solidFill>
              </a:rPr>
              <a:t>concevoir un système d’adduction d’eau</a:t>
            </a:r>
            <a:r>
              <a:rPr lang="fr-FR" sz="1600" dirty="0"/>
              <a:t> (</a:t>
            </a:r>
            <a:r>
              <a:rPr lang="fr-FR" sz="1600" i="1" dirty="0"/>
              <a:t>tuyaux, fontaines, robinets chez l’habitant, système d’irrigation et/ou pompe de circulation…</a:t>
            </a:r>
            <a:r>
              <a:rPr lang="fr-FR" sz="1600" dirty="0"/>
              <a:t>) à partir du réservoir d’eau avec les </a:t>
            </a:r>
            <a:r>
              <a:rPr lang="fr-FR" sz="1600" dirty="0">
                <a:solidFill>
                  <a:srgbClr val="0070C0"/>
                </a:solidFill>
              </a:rPr>
              <a:t>critères</a:t>
            </a:r>
            <a:r>
              <a:rPr lang="fr-FR" sz="1600" dirty="0"/>
              <a:t> suivants 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fr-FR" sz="1600" dirty="0"/>
              <a:t>satisfaire au mieux les </a:t>
            </a:r>
            <a:r>
              <a:rPr lang="fr-FR" sz="1600" dirty="0">
                <a:solidFill>
                  <a:srgbClr val="0070C0"/>
                </a:solidFill>
              </a:rPr>
              <a:t>besoins</a:t>
            </a:r>
            <a:r>
              <a:rPr lang="fr-FR" sz="1600" dirty="0"/>
              <a:t> du village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fr-FR" sz="1600" dirty="0"/>
              <a:t>respecter le </a:t>
            </a:r>
            <a:r>
              <a:rPr lang="fr-FR" sz="1600" dirty="0">
                <a:solidFill>
                  <a:srgbClr val="0070C0"/>
                </a:solidFill>
              </a:rPr>
              <a:t>budget</a:t>
            </a:r>
            <a:r>
              <a:rPr lang="fr-FR" sz="1600" dirty="0"/>
              <a:t> de 220 k€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fr-FR" sz="1600" dirty="0"/>
              <a:t>respecter les contraintes de </a:t>
            </a:r>
            <a:r>
              <a:rPr lang="fr-FR" sz="1600" dirty="0">
                <a:solidFill>
                  <a:srgbClr val="0070C0"/>
                </a:solidFill>
              </a:rPr>
              <a:t>soutenabilité</a:t>
            </a:r>
            <a:r>
              <a:rPr lang="fr-FR" sz="1600" dirty="0"/>
              <a:t> des ressources en eau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fr-FR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sz="1600" dirty="0"/>
              <a:t>Sciences de l’entreprise: réponse à un appel d’offre, lien entre 2 acteurs du secteur (votre entreprise et le gouvernement local)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fr-FR" sz="1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D6F094-7AF2-EA42-F7E4-17D659708094}"/>
              </a:ext>
            </a:extLst>
          </p:cNvPr>
          <p:cNvSpPr/>
          <p:nvPr/>
        </p:nvSpPr>
        <p:spPr>
          <a:xfrm>
            <a:off x="0" y="6436214"/>
            <a:ext cx="12192000" cy="4217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3" name="Image 22" descr="Une image contenant texte, capture d’écran, diagramm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F7904E06-8454-B72F-D87C-25102B32E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9" y="2148989"/>
            <a:ext cx="6766016" cy="468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071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3760-3A6E-872A-3EE5-4980FEE45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2C317B-C994-48E8-98E1-0F5F51BB9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simon.meunier@centralesupelec.fr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7046CB-8ED0-6BA2-FA99-DADA932C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4D03-EB4D-4E9A-A97C-31738675DBD3}" type="slidenum">
              <a:rPr lang="fr-FR" smtClean="0"/>
              <a:t>6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9105FFA-07B3-05D3-4788-3504B19826A4}"/>
              </a:ext>
            </a:extLst>
          </p:cNvPr>
          <p:cNvSpPr txBox="1"/>
          <p:nvPr/>
        </p:nvSpPr>
        <p:spPr>
          <a:xfrm>
            <a:off x="176172" y="72283"/>
            <a:ext cx="11445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70C0"/>
                </a:solidFill>
              </a:rPr>
              <a:t>Utiliser des méthodes interdisciplinaires pour résoudre le projet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FDD338D-885D-3D78-2057-7407C4949D32}"/>
              </a:ext>
            </a:extLst>
          </p:cNvPr>
          <p:cNvSpPr txBox="1"/>
          <p:nvPr/>
        </p:nvSpPr>
        <p:spPr>
          <a:xfrm>
            <a:off x="1152143" y="932692"/>
            <a:ext cx="101864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Analyse </a:t>
            </a:r>
            <a:r>
              <a:rPr lang="fr-FR" dirty="0">
                <a:solidFill>
                  <a:srgbClr val="0070C0"/>
                </a:solidFill>
              </a:rPr>
              <a:t>socio-économique</a:t>
            </a:r>
            <a:r>
              <a:rPr lang="fr-FR" dirty="0"/>
              <a:t> de la situation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Collecte de données de </a:t>
            </a:r>
            <a:r>
              <a:rPr lang="fr-FR" dirty="0">
                <a:solidFill>
                  <a:srgbClr val="0070C0"/>
                </a:solidFill>
              </a:rPr>
              <a:t>coûts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Conception technique à effectuer sous </a:t>
            </a:r>
            <a:r>
              <a:rPr lang="fr-FR" dirty="0">
                <a:solidFill>
                  <a:srgbClr val="0070C0"/>
                </a:solidFill>
              </a:rPr>
              <a:t>Python</a:t>
            </a:r>
            <a:r>
              <a:rPr lang="fr-FR" dirty="0"/>
              <a:t>.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fr-FR" dirty="0"/>
              <a:t>Modélisation </a:t>
            </a:r>
            <a:r>
              <a:rPr lang="fr-FR" dirty="0">
                <a:solidFill>
                  <a:srgbClr val="0070C0"/>
                </a:solidFill>
              </a:rPr>
              <a:t>énergétique</a:t>
            </a:r>
            <a:r>
              <a:rPr lang="fr-FR" dirty="0"/>
              <a:t> et </a:t>
            </a:r>
            <a:r>
              <a:rPr lang="fr-FR" dirty="0">
                <a:solidFill>
                  <a:srgbClr val="0070C0"/>
                </a:solidFill>
              </a:rPr>
              <a:t>hydraulique</a:t>
            </a:r>
            <a:r>
              <a:rPr lang="fr-FR" dirty="0"/>
              <a:t>.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fr-FR" dirty="0">
                <a:solidFill>
                  <a:srgbClr val="0070C0"/>
                </a:solidFill>
              </a:rPr>
              <a:t>Optimisation</a:t>
            </a:r>
            <a:r>
              <a:rPr lang="fr-FR" dirty="0"/>
              <a:t>.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fr-FR" dirty="0"/>
              <a:t>Prise en compte des objectifs sociétaux, économiques et de soutenabilité dans la conception.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B432B39-3002-7591-CD9B-BDFCE0BBBC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329437" y="2630368"/>
            <a:ext cx="491154" cy="49115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AF652C8-3748-4BA4-2C09-C8C276A735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50" t="20556" r="35313" b="5925"/>
          <a:stretch/>
        </p:blipFill>
        <p:spPr>
          <a:xfrm>
            <a:off x="275173" y="866255"/>
            <a:ext cx="644470" cy="523220"/>
          </a:xfrm>
          <a:prstGeom prst="rect">
            <a:avLst/>
          </a:prstGeom>
        </p:spPr>
      </p:pic>
      <p:pic>
        <p:nvPicPr>
          <p:cNvPr id="3074" name="Picture 2" descr="Symbole du dollar - Icônes entreprise gratuites">
            <a:extLst>
              <a:ext uri="{FF2B5EF4-FFF2-40B4-BE49-F238E27FC236}">
                <a16:creationId xmlns:a16="http://schemas.microsoft.com/office/drawing/2014/main" id="{E2985694-0475-7C45-42D8-4AC716DB8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12" y="1591647"/>
            <a:ext cx="729405" cy="729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626B9FF-3DAB-F9F5-52B8-5642235E5925}"/>
              </a:ext>
            </a:extLst>
          </p:cNvPr>
          <p:cNvSpPr txBox="1"/>
          <p:nvPr/>
        </p:nvSpPr>
        <p:spPr>
          <a:xfrm>
            <a:off x="275172" y="4533449"/>
            <a:ext cx="114458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fr-FR" dirty="0"/>
              <a:t>Présentation du projet proposé sous forme d’un court </a:t>
            </a:r>
            <a:r>
              <a:rPr lang="fr-FR" dirty="0">
                <a:solidFill>
                  <a:srgbClr val="0070C0"/>
                </a:solidFill>
              </a:rPr>
              <a:t>dossier technique</a:t>
            </a:r>
            <a:r>
              <a:rPr lang="fr-FR" dirty="0"/>
              <a:t> (15 pages maximum) et d’un </a:t>
            </a:r>
            <a:r>
              <a:rPr lang="fr-FR" dirty="0">
                <a:solidFill>
                  <a:srgbClr val="0070C0"/>
                </a:solidFill>
              </a:rPr>
              <a:t>pitch </a:t>
            </a:r>
            <a:r>
              <a:rPr lang="fr-FR" dirty="0"/>
              <a:t>+ points d’avancement intermédiaires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fr-FR" dirty="0"/>
              <a:t>1 à 2 </a:t>
            </a:r>
            <a:r>
              <a:rPr lang="fr-FR" dirty="0">
                <a:solidFill>
                  <a:srgbClr val="0070C0"/>
                </a:solidFill>
              </a:rPr>
              <a:t>encadrants</a:t>
            </a:r>
            <a:r>
              <a:rPr lang="fr-FR" dirty="0"/>
              <a:t> sont là pour vous aider et vous aiguiller. 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fr-FR" dirty="0"/>
              <a:t>Vous préférez équipes de 3 ou 4 ?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fr-FR" dirty="0"/>
              <a:t>Enormément de </a:t>
            </a:r>
            <a:r>
              <a:rPr lang="fr-FR" dirty="0">
                <a:solidFill>
                  <a:srgbClr val="0070C0"/>
                </a:solidFill>
              </a:rPr>
              <a:t>choix</a:t>
            </a:r>
            <a:r>
              <a:rPr lang="fr-FR" dirty="0"/>
              <a:t> de conception pertinents </a:t>
            </a:r>
            <a:r>
              <a:rPr lang="fr-FR" dirty="0">
                <a:solidFill>
                  <a:srgbClr val="0070C0"/>
                </a:solidFill>
              </a:rPr>
              <a:t>possibles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>
                <a:solidFill>
                  <a:srgbClr val="0070C0"/>
                </a:solidFill>
              </a:rPr>
              <a:t>autant de solutions que de groupes</a:t>
            </a:r>
            <a:r>
              <a:rPr lang="fr-FR" dirty="0"/>
              <a:t>.</a:t>
            </a:r>
          </a:p>
        </p:txBody>
      </p:sp>
      <p:pic>
        <p:nvPicPr>
          <p:cNvPr id="3076" name="Picture 4" descr="5 choses à savoir avant d'apprendre à programmer en python">
            <a:extLst>
              <a:ext uri="{FF2B5EF4-FFF2-40B4-BE49-F238E27FC236}">
                <a16:creationId xmlns:a16="http://schemas.microsoft.com/office/drawing/2014/main" id="{4D8F8B3B-6DD4-FA0B-58EC-49AC5413F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0" y="3224015"/>
            <a:ext cx="1024128" cy="43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5620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3D4FE-9644-0C77-05C3-9911C1D44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A8E1009-9CED-BD28-B4D0-EB48D7EA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simon.meunier@centralesupelec.fr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A72378-78B8-CC96-C62B-09F5F126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4D03-EB4D-4E9A-A97C-31738675DBD3}" type="slidenum">
              <a:rPr lang="fr-FR" smtClean="0"/>
              <a:t>7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FC30A28-D7BD-3769-15E6-66B271AE9F3D}"/>
              </a:ext>
            </a:extLst>
          </p:cNvPr>
          <p:cNvSpPr txBox="1"/>
          <p:nvPr/>
        </p:nvSpPr>
        <p:spPr>
          <a:xfrm>
            <a:off x="176172" y="72283"/>
            <a:ext cx="11445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70C0"/>
                </a:solidFill>
              </a:rPr>
              <a:t>Compétences acquises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498E73A-F591-FC8A-5B3E-A4121CCCA2E3}"/>
              </a:ext>
            </a:extLst>
          </p:cNvPr>
          <p:cNvSpPr txBox="1"/>
          <p:nvPr/>
        </p:nvSpPr>
        <p:spPr>
          <a:xfrm>
            <a:off x="1280159" y="1298737"/>
            <a:ext cx="10305289" cy="481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fr-FR" dirty="0"/>
              <a:t>Se </a:t>
            </a:r>
            <a:r>
              <a:rPr lang="fr-FR" dirty="0">
                <a:solidFill>
                  <a:srgbClr val="0070C0"/>
                </a:solidFill>
              </a:rPr>
              <a:t>familiariser</a:t>
            </a:r>
            <a:r>
              <a:rPr lang="fr-FR" dirty="0"/>
              <a:t> avec le </a:t>
            </a:r>
            <a:r>
              <a:rPr lang="fr-FR" dirty="0">
                <a:solidFill>
                  <a:srgbClr val="0070C0"/>
                </a:solidFill>
              </a:rPr>
              <a:t>secteur</a:t>
            </a:r>
            <a:r>
              <a:rPr lang="fr-FR" dirty="0"/>
              <a:t> de l’accès à l’</a:t>
            </a:r>
            <a:r>
              <a:rPr lang="fr-FR" dirty="0">
                <a:solidFill>
                  <a:srgbClr val="0070C0"/>
                </a:solidFill>
              </a:rPr>
              <a:t>eau</a:t>
            </a:r>
            <a:r>
              <a:rPr lang="fr-FR" dirty="0"/>
              <a:t> dans les pays en développement.</a:t>
            </a:r>
          </a:p>
          <a:p>
            <a:pPr>
              <a:lnSpc>
                <a:spcPct val="114000"/>
              </a:lnSpc>
            </a:pPr>
            <a:endParaRPr lang="fr-FR" dirty="0"/>
          </a:p>
          <a:p>
            <a:pPr>
              <a:lnSpc>
                <a:spcPct val="114000"/>
              </a:lnSpc>
            </a:pPr>
            <a:endParaRPr lang="fr-FR" dirty="0"/>
          </a:p>
          <a:p>
            <a:pPr>
              <a:lnSpc>
                <a:spcPct val="114000"/>
              </a:lnSpc>
            </a:pPr>
            <a:endParaRPr lang="fr-FR" dirty="0"/>
          </a:p>
          <a:p>
            <a:pPr>
              <a:lnSpc>
                <a:spcPct val="114000"/>
              </a:lnSpc>
            </a:pPr>
            <a:r>
              <a:rPr lang="fr-FR" dirty="0">
                <a:solidFill>
                  <a:srgbClr val="0070C0"/>
                </a:solidFill>
              </a:rPr>
              <a:t>Résoudre</a:t>
            </a:r>
            <a:r>
              <a:rPr lang="fr-FR" dirty="0"/>
              <a:t> un problème </a:t>
            </a:r>
            <a:r>
              <a:rPr lang="fr-FR" dirty="0">
                <a:solidFill>
                  <a:srgbClr val="0070C0"/>
                </a:solidFill>
              </a:rPr>
              <a:t>interdisciplinaire</a:t>
            </a:r>
            <a:r>
              <a:rPr lang="fr-FR" dirty="0"/>
              <a:t> : analyse du besoin sociétal, conception technique, chiffrage économique du projet, prise en compte des limites environnementales.</a:t>
            </a:r>
          </a:p>
          <a:p>
            <a:pPr>
              <a:lnSpc>
                <a:spcPct val="114000"/>
              </a:lnSpc>
            </a:pPr>
            <a:endParaRPr lang="fr-FR" dirty="0"/>
          </a:p>
          <a:p>
            <a:pPr>
              <a:lnSpc>
                <a:spcPct val="114000"/>
              </a:lnSpc>
            </a:pPr>
            <a:endParaRPr lang="fr-FR" dirty="0"/>
          </a:p>
          <a:p>
            <a:pPr>
              <a:lnSpc>
                <a:spcPct val="114000"/>
              </a:lnSpc>
            </a:pPr>
            <a:endParaRPr lang="fr-FR" dirty="0"/>
          </a:p>
          <a:p>
            <a:pPr>
              <a:lnSpc>
                <a:spcPct val="114000"/>
              </a:lnSpc>
            </a:pPr>
            <a:r>
              <a:rPr lang="fr-FR" dirty="0"/>
              <a:t>Exemples de </a:t>
            </a:r>
            <a:r>
              <a:rPr lang="fr-FR" dirty="0">
                <a:solidFill>
                  <a:srgbClr val="0070C0"/>
                </a:solidFill>
              </a:rPr>
              <a:t>métiers</a:t>
            </a:r>
            <a:r>
              <a:rPr lang="fr-FR" dirty="0"/>
              <a:t> où bien répondre à ce type de projet ou savoir évaluer une réponse est pertinent :</a:t>
            </a:r>
          </a:p>
          <a:p>
            <a:pPr marL="742950" lvl="1" indent="-28575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fr-FR" dirty="0" err="1"/>
              <a:t>Ingénieur·e</a:t>
            </a:r>
            <a:r>
              <a:rPr lang="fr-FR" dirty="0"/>
              <a:t> en hydraulique</a:t>
            </a:r>
          </a:p>
          <a:p>
            <a:pPr marL="742950" lvl="1" indent="-28575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fr-FR" dirty="0"/>
              <a:t>Responsable de projet en développement rural</a:t>
            </a:r>
          </a:p>
          <a:p>
            <a:pPr marL="742950" lvl="1" indent="-28575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fr-FR" dirty="0" err="1"/>
              <a:t>Chef·fe</a:t>
            </a:r>
            <a:r>
              <a:rPr lang="fr-FR" dirty="0"/>
              <a:t> de projet dans une ONG ou institution de développement</a:t>
            </a:r>
          </a:p>
          <a:p>
            <a:pPr marL="742950" lvl="1" indent="-28575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fr-FR" dirty="0" err="1"/>
              <a:t>Conseiller.e</a:t>
            </a:r>
            <a:r>
              <a:rPr lang="fr-FR" dirty="0"/>
              <a:t> technique pour les gouvernements</a:t>
            </a: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Ø"/>
            </a:pPr>
            <a:endParaRPr lang="fr-FR" dirty="0"/>
          </a:p>
        </p:txBody>
      </p:sp>
      <p:pic>
        <p:nvPicPr>
          <p:cNvPr id="2052" name="Picture 4" descr="Water Icon PNG, Vector, PSD, and Clipart With Transparent Background for  Free Download | Pngtree">
            <a:extLst>
              <a:ext uri="{FF2B5EF4-FFF2-40B4-BE49-F238E27FC236}">
                <a16:creationId xmlns:a16="http://schemas.microsoft.com/office/drawing/2014/main" id="{0DB9DF9D-E84C-3FD7-12A0-38CA8BED0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82" y="943050"/>
            <a:ext cx="1090653" cy="109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roblem solving - Free education icons">
            <a:extLst>
              <a:ext uri="{FF2B5EF4-FFF2-40B4-BE49-F238E27FC236}">
                <a16:creationId xmlns:a16="http://schemas.microsoft.com/office/drawing/2014/main" id="{F0659697-4530-2A99-95C6-036B74C41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097" y="2479675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V - Free business icons">
            <a:extLst>
              <a:ext uri="{FF2B5EF4-FFF2-40B4-BE49-F238E27FC236}">
                <a16:creationId xmlns:a16="http://schemas.microsoft.com/office/drawing/2014/main" id="{D6402C25-303C-6BCC-7557-1066B72EA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82" y="4054475"/>
            <a:ext cx="1090653" cy="109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7902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</Words>
  <Application>Microsoft Office PowerPoint</Application>
  <PresentationFormat>Grand écran</PresentationFormat>
  <Paragraphs>94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AdvOT1ef757c0</vt:lpstr>
      <vt:lpstr>Aptos</vt:lpstr>
      <vt:lpstr>Aptos Display</vt:lpstr>
      <vt:lpstr>Arial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Meunier</dc:creator>
  <cp:lastModifiedBy>Simon Meunier</cp:lastModifiedBy>
  <cp:revision>43</cp:revision>
  <dcterms:created xsi:type="dcterms:W3CDTF">2025-03-16T10:20:06Z</dcterms:created>
  <dcterms:modified xsi:type="dcterms:W3CDTF">2026-06-08T06:26:23Z</dcterms:modified>
</cp:coreProperties>
</file>